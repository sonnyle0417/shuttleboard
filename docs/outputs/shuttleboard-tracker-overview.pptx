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307ac8e1947d5" /><Relationship Type="http://schemas.openxmlformats.org/officeDocument/2006/relationships/extended-properties" Target="/docProps/app.xml" Id="R4c27ff8cce3847d4" /><Relationship Type="http://schemas.openxmlformats.org/officeDocument/2006/relationships/officeDocument" Target="/ppt/presentation.xml" Id="R32e45534937c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67df3d4534d20"/>
  </p:sldMasterIdLst>
  <p:notesMasterIdLst>
    <p:notesMasterId xmlns:r="http://schemas.openxmlformats.org/officeDocument/2006/relationships" r:id="Rc8d05759e5834fbc"/>
  </p:notesMasterIdLst>
  <p:sldIdLst>
    <p:sldId xmlns:r="http://schemas.openxmlformats.org/officeDocument/2006/relationships" id="256" r:id="R47912eac3b9d4a3f"/>
    <p:sldId xmlns:r="http://schemas.openxmlformats.org/officeDocument/2006/relationships" id="257" r:id="R0a4a7bf44460450c"/>
    <p:sldId xmlns:r="http://schemas.openxmlformats.org/officeDocument/2006/relationships" id="258" r:id="R4415d1db3c00474a"/>
    <p:sldId xmlns:r="http://schemas.openxmlformats.org/officeDocument/2006/relationships" id="259" r:id="Rc2f4a75f0da242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cd4bdb0dfa4503" /><Relationship Type="http://schemas.openxmlformats.org/officeDocument/2006/relationships/slideMaster" Target="/ppt/slideMasters/slideMaster1.xml" Id="R17867df3d4534d20" /><Relationship Type="http://schemas.openxmlformats.org/officeDocument/2006/relationships/notesMaster" Target="/ppt/notesMasters/notesMaster1.xml" Id="Rc8d05759e5834fbc" /><Relationship Type="http://schemas.openxmlformats.org/officeDocument/2006/relationships/presProps" Target="/ppt/presProps.xml" Id="R8e0766e63014479a" /><Relationship Type="http://schemas.openxmlformats.org/officeDocument/2006/relationships/tableStyles" Target="/ppt/tableStyles.xml" Id="R2c59c4251a7840ab" /><Relationship Type="http://schemas.openxmlformats.org/officeDocument/2006/relationships/slide" Target="/ppt/slides/slide1.xml" Id="R47912eac3b9d4a3f" /><Relationship Type="http://schemas.openxmlformats.org/officeDocument/2006/relationships/slide" Target="/ppt/slides/slide2.xml" Id="R0a4a7bf44460450c" /><Relationship Type="http://schemas.openxmlformats.org/officeDocument/2006/relationships/slide" Target="/ppt/slides/slide3.xml" Id="R4415d1db3c00474a" /><Relationship Type="http://schemas.openxmlformats.org/officeDocument/2006/relationships/slide" Target="/ppt/slides/slide4.xml" Id="Rc2f4a75f0da2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0a265cac08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641ebc84434a99" /><Relationship Type="http://schemas.openxmlformats.org/officeDocument/2006/relationships/notesMaster" Target="/ppt/notesMasters/notesMaster1.xml" Id="R4e53a7ca318b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b90e361e024fd3" /><Relationship Type="http://schemas.openxmlformats.org/officeDocument/2006/relationships/notesMaster" Target="/ppt/notesMasters/notesMaster1.xml" Id="R7de30771b4664d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9cf4a3b4e43a0" /><Relationship Type="http://schemas.openxmlformats.org/officeDocument/2006/relationships/notesMaster" Target="/ppt/notesMasters/notesMaster1.xml" Id="Rf87d74e784c04e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20af9bf1443cb" /><Relationship Type="http://schemas.openxmlformats.org/officeDocument/2006/relationships/notesMaster" Target="/ppt/notesMasters/notesMaster1.xml" Id="Recdd02fc43bf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4a4d00d6642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bbd8dcfda4cca" /><Relationship Type="http://schemas.openxmlformats.org/officeDocument/2006/relationships/slideLayout" Target="/ppt/slideLayouts/slideLayout1.xml" Id="Re0e760e4a9b0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760e4a9b0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faab5c6348e7" /><Relationship Type="http://schemas.openxmlformats.org/officeDocument/2006/relationships/notesSlide" Target="/ppt/notesSlides/notesSlide1.xml" Id="R4cd600784f02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a9ff695944700" /><Relationship Type="http://schemas.openxmlformats.org/officeDocument/2006/relationships/notesSlide" Target="/ppt/notesSlides/notesSlide2.xml" Id="R6c6e5f9b5666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e2cf18c90409c" /><Relationship Type="http://schemas.openxmlformats.org/officeDocument/2006/relationships/notesSlide" Target="/ppt/notesSlides/notesSlide3.xml" Id="R759feeaf4d7048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ba91fa884c65" /><Relationship Type="http://schemas.openxmlformats.org/officeDocument/2006/relationships/notesSlide" Target="/ppt/notesSlides/notesSlide4.xml" Id="Ra0d218d6e24143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BAB41-44AB-4DF6-99C5-ACB73A8B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solidFill>
              <a:srgbClr val="F6FB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8758F-4584-404C-BB81-85776891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9"/>
          </a:solidFill>
          <a:ln xmlns:a="http://schemas.openxmlformats.org/drawingml/2006/main" w="0">
            <a:solidFill>
              <a:srgbClr val="D9ED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CA6A0-84BC-456F-8BFB-90C6779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8"/>
          </a:solidFill>
          <a:ln xmlns:a="http://schemas.openxmlformats.org/drawingml/2006/main" w="0">
            <a:solidFill>
              <a:srgbClr val="2DD4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B36FD-A889-496A-884C-9C371B2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71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6C9"/>
          </a:solidFill>
          <a:ln xmlns:a="http://schemas.openxmlformats.org/drawingml/2006/main" w="0">
            <a:solidFill>
              <a:srgbClr val="2F86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9A97B-58C5-441E-8037-CB5D1DA0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954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2A5ED-8A7C-4B2E-8FE3-2B047F5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84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E667A-CDFA-4996-B960-2C956C9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6C9"/>
                </a:solidFill>
              </a:defRPr>
            </a:pPr>
            <a:r>
              <a:rPr sz="1275" b="1">
                <a:solidFill>
                  <a:srgbClr val="2F86C9"/>
                </a:solidFill>
              </a:rPr>
              <a:t>ShuttleBoard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64234-A6B2-4E9F-BD71-11FFFDFD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6200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6384D"/>
                </a:solidFill>
              </a:defRPr>
            </a:pPr>
            <a:r>
              <a:rPr sz="3150" b="1">
                <a:solidFill>
                  <a:srgbClr val="26384D"/>
                </a:solidFill>
              </a:rPr>
              <a:t>A premium badminton</a:t>
            </a:r>
          </a:p>
          <a:p xmlns:a="http://schemas.openxmlformats.org/drawingml/2006/main">
            <a:pPr>
              <a:defRPr sz="3150" b="1">
                <a:solidFill>
                  <a:srgbClr val="26384D"/>
                </a:solidFill>
              </a:defRPr>
            </a:pPr>
            <a:r>
              <a:rPr sz="3150" b="1">
                <a:solidFill>
                  <a:srgbClr val="26384D"/>
                </a:solidFill>
              </a:rPr>
              <a:t>tracker for every rally.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F7956-2916-412C-B57A-8406DCAA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F80"/>
                </a:solidFill>
              </a:defRPr>
            </a:pPr>
            <a:r>
              <a:rPr sz="1575">
                <a:solidFill>
                  <a:srgbClr val="5C6F80"/>
                </a:solidFill>
              </a:rPr>
              <a:t>From live scoring to player-specific Elo, ShuttleBoard turns a match into a feedback loop: play, understand, improve.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2B10-4908-43AA-8CDA-0ECE2012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1F1D7-4D35-4C99-8421-A20385B7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6C9"/>
                </a:solidFill>
              </a:defRPr>
            </a:pPr>
            <a:r>
              <a:rPr sz="1050" b="1">
                <a:solidFill>
                  <a:srgbClr val="2F86C9"/>
                </a:solidFill>
              </a:rPr>
              <a:t>THE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9609A-BDC7-44E4-AA91-1A6CC4B7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84D"/>
                </a:solidFill>
              </a:defRPr>
            </a:pPr>
            <a:r>
              <a:rPr sz="1350">
                <a:solidFill>
                  <a:srgbClr val="26384D"/>
                </a:solidFill>
              </a:rPr>
              <a:t>Match notes, scores, and progress live in separate places.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7373E-937D-4272-BA17-7CBAEDD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2F86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5D2FC-08FB-49C2-BCBC-728F0F8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6C9"/>
                </a:solidFill>
              </a:defRPr>
            </a:pPr>
            <a:r>
              <a:rPr sz="1050" b="1">
                <a:solidFill>
                  <a:srgbClr val="2F86C9"/>
                </a:solidFill>
              </a:rPr>
              <a:t>THE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C16FF-F9CC-471A-907B-5A854AEF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84D"/>
                </a:solidFill>
              </a:defRPr>
            </a:pPr>
            <a:r>
              <a:rPr sz="1350">
                <a:solidFill>
                  <a:srgbClr val="26384D"/>
                </a:solidFill>
              </a:rPr>
              <a:t>One focused home for the court, the result, and the next goal.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F108D-635A-4A46-B693-5ED40225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6C9"/>
                </a:solidFill>
              </a:defRPr>
            </a:pPr>
            <a:r>
              <a:rPr sz="1200" b="1">
                <a:solidFill>
                  <a:srgbClr val="2F86C9"/>
                </a:solidFill>
              </a:rPr>
              <a:t>Live score  ·  AI line calls  ·  Elo  ·  coaching  · 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6D7AC-7B04-4214-A398-1D1452E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F80"/>
                </a:solidFill>
              </a:defRPr>
            </a:pPr>
            <a:r>
              <a:rPr sz="750" b="1">
                <a:solidFill>
                  <a:srgbClr val="5C6F80"/>
                </a:solidFill>
              </a:rPr>
              <a:t>SHUTTLEBOARD  ·  01</a:t>
            </a:r>
          </a:p>
        </p:txBody>
      </p:sp>
    </p:spTree>
    <p:extLst>
      <p:ext uri="{BB962C8B-B14F-4D97-AF65-F5344CB8AC3E}">
        <p14:creationId xmlns:p14="http://schemas.microsoft.com/office/powerpoint/2010/main" val="1445623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D67FC-8A91-4D3B-B58D-3430302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solidFill>
              <a:srgbClr val="F6FB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4AB94-2293-481B-8842-327D8F8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9"/>
          </a:solidFill>
          <a:ln xmlns:a="http://schemas.openxmlformats.org/drawingml/2006/main" w="0">
            <a:solidFill>
              <a:srgbClr val="D9EDF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2EF76-A413-48E1-A4E2-918FD7A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8"/>
          </a:solidFill>
          <a:ln xmlns:a="http://schemas.openxmlformats.org/drawingml/2006/main" w="0">
            <a:solidFill>
              <a:srgbClr val="2DD4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988F-5417-419D-B162-54011B2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6C9"/>
          </a:solidFill>
          <a:ln xmlns:a="http://schemas.openxmlformats.org/drawingml/2006/main" w="0">
            <a:solidFill>
              <a:srgbClr val="2F86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71FC-B65F-4640-93CF-D963379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E0E3-2758-4C28-BEE5-70C4D36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84D"/>
                </a:solidFill>
              </a:defRPr>
            </a:pPr>
            <a:r>
              <a:rPr sz="2775" b="1">
                <a:solidFill>
                  <a:srgbClr val="26384D"/>
                </a:solidFill>
              </a:rPr>
              <a:t>Key Components Of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6187F-E090-4929-919E-134B049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50937-CC4E-4945-99E7-D42E4489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90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D6E2F-DB8D-4202-90CA-34DCB356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Players juggle scores, notes, rankings, and video in separate places. Progress disappears after the match.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F7504-BB01-447B-A430-78246EC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3825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DDF95-BFDF-43EC-8581-65C2A204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90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D7E7A-180A-4A88-A73D-6ADE7415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ShuttleBoard unifies live scoring, match memory, personalized Elo, AI review, and next-session coaching.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388B7-E735-4DA3-9146-A9277D54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D3B44-9FD0-44BD-B61B-AB2F4A99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Back 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82A07-764F-484D-ABBB-CB74FD7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Built around one question: what if every match could tell a player what to practice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6E0CA-A946-42C9-B2FC-2E4C7559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A80D5-4E59-4FAC-9833-8A4C47EC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Features &amp; differentiator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9413D-CF55-45BC-91DD-69C01F30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Live court controls, voice/referee mode, AI line calls, five ranked divisions, and personal dashboards.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DF5AC-C538-401A-8236-8814041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4B1CE-A76F-47B9-A7D0-BED3671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What we learned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15E7D-0C6E-4030-907F-E31DFC71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A premium experience needs speed at the court, trustworthy saved data, and clear insights—not a crowded screen.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AAD0F-331E-4462-97B5-60379C3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590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F00EA-33FB-417C-B66C-C51FA1D9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384D"/>
                </a:solidFill>
              </a:defRPr>
            </a:pPr>
            <a:r>
              <a:rPr sz="1275" b="1">
                <a:solidFill>
                  <a:srgbClr val="26384D"/>
                </a:solidFill>
              </a:rPr>
              <a:t>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8B8E7-A9BC-4FE5-A1B4-3AA1C76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F80"/>
                </a:solidFill>
              </a:defRPr>
            </a:pPr>
            <a:r>
              <a:rPr sz="1050">
                <a:solidFill>
                  <a:srgbClr val="5C6F80"/>
                </a:solidFill>
              </a:rPr>
              <a:t>Connect AI inspection confidence to Elo, add clubs and leagues, and expand video rally intelligence.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95BFD-4103-43AF-8E8E-E00457B6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F80"/>
                </a:solidFill>
              </a:defRPr>
            </a:pPr>
            <a:r>
              <a:rPr sz="750" b="1">
                <a:solidFill>
                  <a:srgbClr val="5C6F80"/>
                </a:solidFill>
              </a:rPr>
              <a:t>SHUTTLEBOARD  ·  02</a:t>
            </a:r>
          </a:p>
        </p:txBody>
      </p:sp>
    </p:spTree>
    <p:extLst>
      <p:ext uri="{BB962C8B-B14F-4D97-AF65-F5344CB8AC3E}">
        <p14:creationId xmlns:p14="http://schemas.microsoft.com/office/powerpoint/2010/main" val="1128465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130D5-A128-4012-995A-7C24225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6C9"/>
                </a:solidFill>
              </a:defRPr>
            </a:pPr>
            <a:r>
              <a:rPr sz="975" b="1">
                <a:solidFill>
                  <a:srgbClr val="2F86C9"/>
                </a:solidFill>
              </a:rPr>
              <a:t>RANKED 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70259-01C8-42AA-B9F9-EB2BC17B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84D"/>
                </a:solidFill>
              </a:defRPr>
            </a:pPr>
            <a:r>
              <a:rPr sz="2775" b="1">
                <a:solidFill>
                  <a:srgbClr val="26384D"/>
                </a:solidFill>
              </a:rPr>
              <a:t>Every match moves a player story forward.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AF29-FBBC-43E8-884B-44F1B643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F80"/>
                </a:solidFill>
              </a:defRPr>
            </a:pPr>
            <a:r>
              <a:rPr sz="1425">
                <a:solidFill>
                  <a:srgbClr val="5C6F80"/>
                </a:solidFill>
              </a:rPr>
              <a:t>Elo begins at 1000, then adapts to opponent strength, score margin, and match category.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39294-0209-40DF-8A1E-278917A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2F86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0BDBC-AB43-456C-83E0-162CDA1B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84D"/>
                </a:solidFill>
              </a:defRPr>
            </a:pPr>
            <a:r>
              <a:rPr sz="1800" b="1">
                <a:solidFill>
                  <a:srgbClr val="26384D"/>
                </a:solidFill>
              </a:rPr>
              <a:t>How Elo moves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451F-F7F3-4938-88BA-A562C52A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8"/>
          </a:solidFill>
          <a:ln xmlns:a="http://schemas.openxmlformats.org/drawingml/2006/main" w="0">
            <a:solidFill>
              <a:srgbClr val="2DD4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C4B20-0819-4E25-A9C0-01260439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Start at 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4A607-A054-4504-926A-DF1A093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A clear baseline makes the first result meaningful.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E214E-EF84-4D4A-B232-AEFC44A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6C9"/>
          </a:solidFill>
          <a:ln xmlns:a="http://schemas.openxmlformats.org/drawingml/2006/main" w="0">
            <a:solidFill>
              <a:srgbClr val="2F86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2642B-0DF1-4E69-A69A-8EDF13B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Stronger wins matter more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44E1-B114-4EE1-80C2-5BFF2BE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Opponent-adjusted gains reward beating higher-rated players.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A8D16-74F4-4A40-8201-0D789E4F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C1AAE-F3B2-4A10-8157-16AC752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Margins add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30F07-0D51-4241-8422-6ACBDD4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9175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A close loss and a decisive loss do not tell the same 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D0C2A-01CF-4A07-8FE4-705C68DC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600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4CD11-53D9-4068-9D69-B3AA335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84D"/>
                </a:solidFill>
              </a:defRPr>
            </a:pPr>
            <a:r>
              <a:rPr sz="1800" b="1">
                <a:solidFill>
                  <a:srgbClr val="26384D"/>
                </a:solidFill>
              </a:rPr>
              <a:t>Separate ranked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1C0FC-0ECD-4278-8767-8D555345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Men’s Singles     Women’s Singles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523B7-294B-4377-B468-B051770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Men’s Doubles     Women’s Doubles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66840-927B-4EFC-B204-58FC75B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Mixed Doubles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32C76-24EA-4E5A-832D-62ECB5BA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339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Profile gender filters ineligible women’s or men’s events from the dashboard and lobby. Rating confidence grows from Provisional to Building to Established as matches are saved.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37F90-3E58-4B6A-86E5-084FE26A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F80"/>
                </a:solidFill>
              </a:defRPr>
            </a:pPr>
            <a:r>
              <a:rPr sz="750" b="1">
                <a:solidFill>
                  <a:srgbClr val="5C6F80"/>
                </a:solidFill>
              </a:rPr>
              <a:t>SHUTTLEBOARD  ·  03</a:t>
            </a:r>
          </a:p>
        </p:txBody>
      </p:sp>
    </p:spTree>
    <p:extLst>
      <p:ext uri="{BB962C8B-B14F-4D97-AF65-F5344CB8AC3E}">
        <p14:creationId xmlns:p14="http://schemas.microsoft.com/office/powerpoint/2010/main" val="553366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8E7D8-3A5D-4E12-B379-A910574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6C9"/>
                </a:solidFill>
              </a:defRPr>
            </a:pPr>
            <a:r>
              <a:rPr sz="975" b="1">
                <a:solidFill>
                  <a:srgbClr val="2F86C9"/>
                </a:solidFill>
              </a:rPr>
              <a:t>WHY IT STANDS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A116-40D0-4301-95BC-6D17B8A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84D"/>
                </a:solidFill>
              </a:defRPr>
            </a:pPr>
            <a:r>
              <a:rPr sz="2775" b="1">
                <a:solidFill>
                  <a:srgbClr val="26384D"/>
                </a:solidFill>
              </a:rPr>
              <a:t>The tracker remembers the player, not just the 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51D7F-6877-4A97-B9B7-35618087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F80"/>
                </a:solidFill>
              </a:defRPr>
            </a:pPr>
            <a:r>
              <a:rPr sz="1425">
                <a:solidFill>
                  <a:srgbClr val="5C6F80"/>
                </a:solidFill>
              </a:rPr>
              <a:t>Built to feel useful before, during, and after a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344F7-CBCA-4830-B9C3-90C149A0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048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4288">
            <a:solidFill>
              <a:srgbClr val="A9C9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EE971-485A-4326-A85F-3A6C5B6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84D"/>
                </a:solidFill>
              </a:defRPr>
            </a:pPr>
            <a:r>
              <a:rPr sz="1800" b="1">
                <a:solidFill>
                  <a:srgbClr val="26384D"/>
                </a:solidFill>
              </a:rPr>
              <a:t>What makes it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93E7-8DAC-4C1E-BB73-C7D5F3C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8"/>
          </a:solidFill>
          <a:ln xmlns:a="http://schemas.openxmlformats.org/drawingml/2006/main" w="0">
            <a:solidFill>
              <a:srgbClr val="2DD4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8B742-F332-4FEA-8F72-F31552FD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Personalized Elo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F7310-F387-415B-80AC-E76F00E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42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Five ranked divisions with opponent-adjusted movement.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FE894-3078-4EF1-831B-9C98ABA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6C9"/>
          </a:solidFill>
          <a:ln xmlns:a="http://schemas.openxmlformats.org/drawingml/2006/main" w="0">
            <a:solidFill>
              <a:srgbClr val="2F86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740A7-3FD5-4C31-8592-5371B3F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Premium match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8568C-01FE-4A8D-ACDC-0895C01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243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Rematch the same players, court, title, and team setup.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EA187-0EA0-4D36-97C5-DC057F1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7D239-4F8E-4086-A629-8E675E1C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84D"/>
                </a:solidFill>
              </a:defRPr>
            </a:pPr>
            <a:r>
              <a:rPr sz="1350" b="1">
                <a:solidFill>
                  <a:srgbClr val="26384D"/>
                </a:solidFill>
              </a:rPr>
              <a:t>Actionable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55B86-74D3-49FF-874A-067A6E0F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244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0"/>
                </a:solidFill>
              </a:defRPr>
            </a:pPr>
            <a:r>
              <a:rPr sz="1125">
                <a:solidFill>
                  <a:srgbClr val="5C6F80"/>
                </a:solidFill>
              </a:rPr>
              <a:t>Turn saved matches and video into a next-session focus.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76302-16C8-453F-A664-DE1ECAE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3149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9EDF9"/>
          </a:solidFill>
          <a:ln xmlns:a="http://schemas.openxmlformats.org/drawingml/2006/main" w="14288">
            <a:solidFill>
              <a:srgbClr val="2F86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1968D-FE93-4971-9F2B-C8F230CB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84D"/>
                </a:solidFill>
              </a:defRPr>
            </a:pPr>
            <a:r>
              <a:rPr sz="1800" b="1">
                <a:solidFill>
                  <a:srgbClr val="26384D"/>
                </a:solidFill>
              </a:rPr>
              <a:t>What development taught 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DC0A9-8E6A-46D1-B145-35ABAAD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84D"/>
                </a:solidFill>
              </a:defRPr>
            </a:pPr>
            <a:r>
              <a:rPr sz="1650">
                <a:solidFill>
                  <a:srgbClr val="26384D"/>
                </a:solidFill>
              </a:rPr>
              <a:t>The best experience is not a crowded analytics screen. It is a clear sequence: prepare quickly, track confidently, and leave knowing what to do next.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AE879-1623-413D-A64D-1A12288F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6C9"/>
                </a:solidFill>
              </a:defRPr>
            </a:pPr>
            <a:r>
              <a:rPr sz="1200" b="1">
                <a:solidFill>
                  <a:srgbClr val="2F86C9"/>
                </a:solidFill>
              </a:rPr>
              <a:t>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D744F-C71A-4540-82B7-F6D75BD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F80"/>
                </a:solidFill>
              </a:defRPr>
            </a:pPr>
            <a:r>
              <a:rPr sz="1200">
                <a:solidFill>
                  <a:srgbClr val="5C6F80"/>
                </a:solidFill>
              </a:rPr>
              <a:t>Connect AI inspection confidence to Elo, add club leagues, and expand video-based rally insights.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94D9D-6ED8-430D-B93E-AB333D16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6F80"/>
                </a:solidFill>
              </a:defRPr>
            </a:pPr>
            <a:r>
              <a:rPr sz="750" b="1">
                <a:solidFill>
                  <a:srgbClr val="5C6F80"/>
                </a:solidFill>
              </a:rPr>
              <a:t>SHUTTLEBOARD  ·  04</a:t>
            </a:r>
          </a:p>
        </p:txBody>
      </p:sp>
    </p:spTree>
    <p:extLst>
      <p:ext uri="{BB962C8B-B14F-4D97-AF65-F5344CB8AC3E}">
        <p14:creationId xmlns:p14="http://schemas.microsoft.com/office/powerpoint/2010/main" val="141974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2026-07-17T18:28:16.0130000Z</dcterms:created>
  <dcterms:modified xsi:type="dcterms:W3CDTF">2026-07-17T18:28:16.0130000Z</dcterms:modified>
</coreProperties>
</file>